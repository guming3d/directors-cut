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8" r:id="rId3"/>
    <p:sldId id="462"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114" d="100"/>
          <a:sy n="114" d="100"/>
        </p:scale>
        <p:origin x="3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commentAuthors" Target="commentAuthors.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7-26T17:09:15.949" idx="1">
    <p:pos x="0" y="0"/>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2-07-26T17:09:15.949" idx="2">
    <p:pos x="0" y="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CE048A-B64E-43EF-9F41-1FA6163E4F3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09F1C-2C0A-42D3-A304-23743D0159B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ChangeArrowheads="1"/>
          </p:cNvSpPr>
          <p:nvPr>
            <p:ph type="sldImg" idx="4294967295"/>
          </p:nvPr>
        </p:nvSpPr>
        <p:spPr>
          <a:ln>
            <a:miter lim="800000"/>
          </a:ln>
        </p:spPr>
      </p:sp>
      <p:sp>
        <p:nvSpPr>
          <p:cNvPr id="27650" name="文本占位符 2"/>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ChangeArrowheads="1"/>
          </p:cNvSpPr>
          <p:nvPr>
            <p:ph type="sldImg" idx="4294967295"/>
          </p:nvPr>
        </p:nvSpPr>
        <p:spPr>
          <a:ln>
            <a:miter lim="800000"/>
          </a:ln>
        </p:spPr>
      </p:sp>
      <p:sp>
        <p:nvSpPr>
          <p:cNvPr id="29698" name="文本占位符 2"/>
          <p:cNvSpPr>
            <a:spLocks noGrp="1" noChangeArrowheads="1"/>
          </p:cNvSpPr>
          <p:nvPr>
            <p:ph type="body" idx="429496729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CBE4D5-A16E-4AFE-B983-BE4A9E60094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53E0AA-A19B-46EE-AB69-1AB807F74E0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BE4D5-A16E-4AFE-B983-BE4A9E60094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3E0AA-A19B-46EE-AB69-1AB807F74E0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comments" Target="../comments/comment1.xml"/><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hasCustomPrompt="1"/>
            <p:custDataLst>
              <p:tags r:id="rId1"/>
            </p:custDataLst>
          </p:nvPr>
        </p:nvSpPr>
        <p:spPr>
          <a:xfrm>
            <a:off x="138113" y="100014"/>
            <a:ext cx="11915775" cy="6686680"/>
          </a:xfrm>
        </p:spPr>
        <p:txBody>
          <a:bodyPr>
            <a:normAutofit lnSpcReduction="20000"/>
          </a:bodyPr>
          <a:lstStyle/>
          <a:p>
            <a:pPr algn="l">
              <a:spcBef>
                <a:spcPts val="0"/>
              </a:spcBef>
              <a:spcAft>
                <a:spcPts val="1000"/>
              </a:spcAft>
            </a:pPr>
            <a:r>
              <a:rPr lang="en-US" altLang="zh-CN" sz="1600" b="1" kern="1000" spc="0" noProof="1">
                <a:solidFill>
                  <a:schemeClr val="tx1"/>
                </a:solidFill>
                <a:latin typeface="Arial" panose="020B0604020202020204" pitchFamily="34" charset="0"/>
                <a:cs typeface="Arial" panose="020B0604020202020204" pitchFamily="34" charset="0"/>
              </a:rPr>
              <a:t>Brush Up Life-30S</a:t>
            </a:r>
            <a:endParaRPr lang="en-US" altLang="zh-CN" sz="1600" b="1" kern="1000" spc="0" noProof="1">
              <a:solidFill>
                <a:schemeClr val="tx1"/>
              </a:solidFill>
              <a:latin typeface="Arial" panose="020B0604020202020204" pitchFamily="34" charset="0"/>
              <a:cs typeface="Arial" panose="020B0604020202020204" pitchFamily="34" charset="0"/>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sym typeface="+mn-ea"/>
              </a:rPr>
              <a:t>第一画面（飞机内）</a:t>
            </a:r>
            <a:r>
              <a:rPr lang="en-US" altLang="zh-CN" sz="1200" b="1" kern="1000" spc="0" noProof="1">
                <a:solidFill>
                  <a:schemeClr val="tx1"/>
                </a:solidFill>
                <a:latin typeface="微软雅黑" panose="020B0503020204020204" pitchFamily="34" charset="-122"/>
                <a:ea typeface="微软雅黑" panose="020B0503020204020204" pitchFamily="34" charset="-122"/>
                <a:sym typeface="+mn-ea"/>
              </a:rPr>
              <a:t>-3s</a:t>
            </a:r>
            <a:endParaRPr lang="zh-CN" altLang="en-US" sz="1200" b="1"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需要飞机飞行中的背景音，一定第一眼要看出来在飞机上（展示匹配</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的飞机窗户及座椅</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等）。</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男主女主坐在飞机座椅上（可以只显示上半身），头部慢慢依偎在一起，后面泛起红心，整个屏幕做一些淡淡的粉色浪漫特效。</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两人的表情均是害羞状，并且眼神看向对方。这段温馨的片段吃持续前两秒，从第</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2-3</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秒就要进入飞机失事的状态了。</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突然飞机震动（屏幕持续震动效果，男女主也随之晃动），闪起警报闪光，可以出现滋滋的故障火花，冒起烟雾，氧气面罩掉落。</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sym typeface="+mn-ea"/>
              </a:rPr>
              <a:t>第二画面（黑屏）</a:t>
            </a:r>
            <a:r>
              <a:rPr lang="en-US" altLang="zh-CN" sz="1200" b="1" kern="1000" spc="0" noProof="1">
                <a:solidFill>
                  <a:schemeClr val="tx1"/>
                </a:solidFill>
                <a:latin typeface="微软雅黑" panose="020B0503020204020204" pitchFamily="34" charset="-122"/>
                <a:ea typeface="微软雅黑" panose="020B0503020204020204" pitchFamily="34" charset="-122"/>
                <a:sym typeface="+mn-ea"/>
              </a:rPr>
              <a:t>-1s</a:t>
            </a:r>
            <a:endParaRPr lang="en-US" altLang="zh-CN" sz="1200" b="1"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然后像断电一样黑屏，男女主呼喊对方名字 “</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Anna</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Neil</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”配合文字框弹出。</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noProof="1">
                <a:latin typeface="微软雅黑" panose="020B0503020204020204" pitchFamily="34" charset="-122"/>
                <a:ea typeface="微软雅黑" panose="020B0503020204020204" pitchFamily="34" charset="-122"/>
                <a:sym typeface="+mn-ea"/>
              </a:rPr>
              <a:t>第三画面（飞机坠毁）</a:t>
            </a:r>
            <a:r>
              <a:rPr lang="en-US" altLang="zh-CN" sz="1200" b="1" kern="1000" noProof="1">
                <a:latin typeface="微软雅黑" panose="020B0503020204020204" pitchFamily="34" charset="-122"/>
                <a:ea typeface="微软雅黑" panose="020B0503020204020204" pitchFamily="34" charset="-122"/>
                <a:sym typeface="+mn-ea"/>
              </a:rPr>
              <a:t>-2s</a:t>
            </a:r>
            <a:endParaRPr lang="en-US" altLang="zh-CN" sz="1200" b="1"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绿幕的飞机伴随着火与浓烟飞出屏幕后，在飞出的边缘做爆炸的效果，然后屏幕慢慢闪白。</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sym typeface="+mn-ea"/>
              </a:rPr>
              <a:t>第四画面（天堂背景）</a:t>
            </a:r>
            <a:r>
              <a:rPr lang="en-US" altLang="zh-CN" sz="1200" b="1" kern="1000" spc="0" noProof="1">
                <a:solidFill>
                  <a:schemeClr val="tx1"/>
                </a:solidFill>
                <a:latin typeface="微软雅黑" panose="020B0503020204020204" pitchFamily="34" charset="-122"/>
                <a:ea typeface="微软雅黑" panose="020B0503020204020204" pitchFamily="34" charset="-122"/>
                <a:sym typeface="+mn-ea"/>
              </a:rPr>
              <a:t>10-15</a:t>
            </a:r>
            <a:r>
              <a:rPr lang="en-US" altLang="zh-CN" sz="1200" b="1" kern="1000" spc="0" noProof="1">
                <a:solidFill>
                  <a:schemeClr val="tx1"/>
                </a:solidFill>
                <a:latin typeface="微软雅黑" panose="020B0503020204020204" pitchFamily="34" charset="-122"/>
                <a:ea typeface="微软雅黑" panose="020B0503020204020204" pitchFamily="34" charset="-122"/>
                <a:sym typeface="+mn-ea"/>
              </a:rPr>
              <a:t>s</a:t>
            </a:r>
            <a:endParaRPr lang="en-US" altLang="zh-CN" sz="1200" b="1"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随着闪白的转场，女主半身（还是之前的衣服）出现在镜头，猛地一吸气（惊讶表情）双手摊开看看自己，自言自语道：</a:t>
            </a:r>
            <a:r>
              <a:rPr lang="en-US" altLang="zh-CN" sz="1200" kern="1000" noProof="1">
                <a:latin typeface="微软雅黑" panose="020B0503020204020204" pitchFamily="34" charset="-122"/>
                <a:ea typeface="微软雅黑" panose="020B0503020204020204" pitchFamily="34" charset="-122"/>
                <a:sym typeface="+mn-ea"/>
              </a:rPr>
              <a:t>Am I dead?</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随后屏幕上方弹出 蓝色框“</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You are already dead</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”女主对应做出难过表情。</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然后再次弹出蓝色框说明可以重生一次，女主随之表现的惊讶表情。画面随后弹出三个职业选择，下面黑色滑动条弹上来，女主本人挪到镜头外。（参考</a:t>
            </a:r>
            <a:r>
              <a:rPr lang="en-US" altLang="zh-CN" sz="1200" kern="1000" noProof="1">
                <a:latin typeface="微软雅黑" panose="020B0503020204020204" pitchFamily="34" charset="-122"/>
                <a:ea typeface="微软雅黑" panose="020B0503020204020204" pitchFamily="34" charset="-122"/>
                <a:sym typeface="+mn-ea"/>
              </a:rPr>
              <a:t>PSD</a:t>
            </a:r>
            <a:r>
              <a:rPr lang="zh-CN" altLang="en-US" sz="1200" kern="1000" noProof="1">
                <a:latin typeface="微软雅黑" panose="020B0503020204020204" pitchFamily="34" charset="-122"/>
                <a:ea typeface="微软雅黑" panose="020B0503020204020204" pitchFamily="34" charset="-122"/>
                <a:sym typeface="+mn-ea"/>
              </a:rPr>
              <a:t>重生界面）</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然后手指挪动到第一个选项</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ceo</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，屏幕随之落下钞票，挪动到第二个，霓虹灯</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满屏</a:t>
            </a:r>
            <a:r>
              <a:rPr lang="zh-CN" altLang="en-US" sz="1200" kern="1000" noProof="1">
                <a:latin typeface="微软雅黑" panose="020B0503020204020204" pitchFamily="34" charset="-122"/>
                <a:ea typeface="微软雅黑" panose="020B0503020204020204" pitchFamily="34" charset="-122"/>
                <a:sym typeface="+mn-ea"/>
              </a:rPr>
              <a:t>飘</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音乐符号。</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然后手指挪开，女主本人出来表情坚决的握拳说到：</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I want to be reborn to save our love! </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，然后本人挪开，手指点击选择第三个选项框，再滑动下面滑动条。</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（这个场景内的点击浮动选择等等动态效果一定要做出来）</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noProof="1">
                <a:latin typeface="微软雅黑" panose="020B0503020204020204" pitchFamily="34" charset="-122"/>
                <a:ea typeface="微软雅黑" panose="020B0503020204020204" pitchFamily="34" charset="-122"/>
                <a:sym typeface="+mn-ea"/>
              </a:rPr>
              <a:t>第五画面（多个场景快速闪回带过，切换的时候动态模糊重一些）</a:t>
            </a:r>
            <a:r>
              <a:rPr lang="en-US" altLang="zh-CN" sz="1200" b="1" kern="1000" noProof="1">
                <a:latin typeface="微软雅黑" panose="020B0503020204020204" pitchFamily="34" charset="-122"/>
                <a:ea typeface="微软雅黑" panose="020B0503020204020204" pitchFamily="34" charset="-122"/>
                <a:sym typeface="+mn-ea"/>
              </a:rPr>
              <a:t>6-8</a:t>
            </a:r>
            <a:r>
              <a:rPr lang="en-US" altLang="zh-CN" sz="1200" b="1" kern="1000" noProof="1">
                <a:latin typeface="微软雅黑" panose="020B0503020204020204" pitchFamily="34" charset="-122"/>
                <a:ea typeface="微软雅黑" panose="020B0503020204020204" pitchFamily="34" charset="-122"/>
                <a:sym typeface="+mn-ea"/>
              </a:rPr>
              <a:t>s</a:t>
            </a:r>
            <a:endParaRPr lang="en-US" altLang="zh-CN" sz="1200" b="1"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采用具有重生感</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闪回的转场</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 </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倒计时</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 </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至场景</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1</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，女主半身抬头看到倒计时</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UI</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，做惊讶表情，随后向屏幕右边奔跑场景</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掠过（整个屏幕突出紧张感，</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6-7</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秒开始倒计时）。</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最后跑到机舱驾驶室门</a:t>
            </a:r>
            <a:r>
              <a:rPr lang="zh-CN" altLang="en-US" sz="1200" kern="1000" noProof="1">
                <a:latin typeface="微软雅黑" panose="020B0503020204020204" pitchFamily="34" charset="-122"/>
                <a:ea typeface="微软雅黑" panose="020B0503020204020204" pitchFamily="34" charset="-122"/>
                <a:sym typeface="+mn-ea"/>
              </a:rPr>
              <a:t>口，女主</a:t>
            </a:r>
            <a:r>
              <a:rPr lang="en-US" altLang="zh-CN" sz="1200" kern="1000" noProof="1">
                <a:latin typeface="微软雅黑" panose="020B0503020204020204" pitchFamily="34" charset="-122"/>
                <a:ea typeface="微软雅黑" panose="020B0503020204020204" pitchFamily="34" charset="-122"/>
                <a:sym typeface="+mn-ea"/>
              </a:rPr>
              <a:t>POV</a:t>
            </a:r>
            <a:r>
              <a:rPr lang="zh-CN" altLang="en-US" sz="1200" kern="1000" noProof="1">
                <a:latin typeface="微软雅黑" panose="020B0503020204020204" pitchFamily="34" charset="-122"/>
                <a:ea typeface="微软雅黑" panose="020B0503020204020204" pitchFamily="34" charset="-122"/>
                <a:sym typeface="+mn-ea"/>
              </a:rPr>
              <a:t>第一视角，屏幕慢慢向门拉近，然后门滑动开，然后闪白放大的转场，计时器最后到</a:t>
            </a:r>
            <a:r>
              <a:rPr lang="en-US" altLang="zh-CN" sz="1200" kern="1000" noProof="1">
                <a:latin typeface="微软雅黑" panose="020B0503020204020204" pitchFamily="34" charset="-122"/>
                <a:ea typeface="微软雅黑" panose="020B0503020204020204" pitchFamily="34" charset="-122"/>
                <a:sym typeface="+mn-ea"/>
              </a:rPr>
              <a:t>1</a:t>
            </a:r>
            <a:r>
              <a:rPr lang="zh-CN" altLang="en-US" sz="1200" kern="1000" noProof="1">
                <a:latin typeface="微软雅黑" panose="020B0503020204020204" pitchFamily="34" charset="-122"/>
                <a:ea typeface="微软雅黑" panose="020B0503020204020204" pitchFamily="34" charset="-122"/>
                <a:sym typeface="+mn-ea"/>
              </a:rPr>
              <a:t>就可以。</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sym typeface="+mn-ea"/>
              </a:rPr>
              <a:t>第六</a:t>
            </a:r>
            <a:r>
              <a:rPr lang="zh-CN" altLang="en-US" sz="1200" b="1" kern="1000" noProof="1">
                <a:latin typeface="微软雅黑" panose="020B0503020204020204" pitchFamily="34" charset="-122"/>
                <a:ea typeface="微软雅黑" panose="020B0503020204020204" pitchFamily="34" charset="-122"/>
                <a:sym typeface="+mn-ea"/>
              </a:rPr>
              <a:t>画面（</a:t>
            </a:r>
            <a:r>
              <a:rPr lang="zh-CN" altLang="en-US" sz="1200" b="1" kern="1000" noProof="1">
                <a:latin typeface="微软雅黑" panose="020B0503020204020204" pitchFamily="34" charset="-122"/>
                <a:ea typeface="微软雅黑" panose="020B0503020204020204" pitchFamily="34" charset="-122"/>
                <a:sym typeface="+mn-ea"/>
              </a:rPr>
              <a:t>走入机舱内）</a:t>
            </a:r>
            <a:endParaRPr lang="en-US" altLang="zh-CN" sz="1200" b="1"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女主坐在靠外侧的副驾驶</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座位，两手捂嘴惊讶，随后眼中泛起泪花难过且激动</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的表情说到：</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Neil</a:t>
            </a:r>
            <a:r>
              <a:rPr lang="en-US" altLang="zh-CN" sz="1200" kern="1000" noProof="1">
                <a:latin typeface="微软雅黑" panose="020B0503020204020204" pitchFamily="34" charset="-122"/>
                <a:ea typeface="微软雅黑" panose="020B0503020204020204" pitchFamily="34" charset="-122"/>
                <a:sym typeface="+mn-ea"/>
              </a:rPr>
              <a:t>!!! </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sym typeface="+mn-ea"/>
              </a:rPr>
              <a:t>第七画面（封面图展示）</a:t>
            </a:r>
            <a:endParaRPr lang="en-US" altLang="zh-CN" sz="1200" b="1" kern="1000" spc="0" noProof="1">
              <a:solidFill>
                <a:schemeClr val="tx1"/>
              </a:solidFill>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noProof="1">
                <a:latin typeface="微软雅黑" panose="020B0503020204020204" pitchFamily="34" charset="-122"/>
                <a:ea typeface="微软雅黑" panose="020B0503020204020204" pitchFamily="34" charset="-122"/>
                <a:sym typeface="+mn-ea"/>
              </a:rPr>
              <a:t>男主说到：</a:t>
            </a:r>
            <a:r>
              <a:rPr lang="en-US" altLang="zh-CN" sz="1200" kern="1000" noProof="1">
                <a:latin typeface="微软雅黑" panose="020B0503020204020204" pitchFamily="34" charset="-122"/>
                <a:ea typeface="微软雅黑" panose="020B0503020204020204" pitchFamily="34" charset="-122"/>
                <a:sym typeface="+mn-ea"/>
              </a:rPr>
              <a:t>Let‘s save our love together</a:t>
            </a:r>
            <a:r>
              <a:rPr lang="zh-CN" altLang="en-US" sz="1200" kern="1000" noProof="1">
                <a:latin typeface="微软雅黑" panose="020B0503020204020204" pitchFamily="34" charset="-122"/>
                <a:ea typeface="微软雅黑" panose="020B0503020204020204" pitchFamily="34" charset="-122"/>
                <a:sym typeface="+mn-ea"/>
              </a:rPr>
              <a:t>！</a:t>
            </a:r>
            <a:endParaRPr lang="en-US" altLang="zh-CN" sz="1200" kern="1000" noProof="1">
              <a:latin typeface="微软雅黑" panose="020B0503020204020204" pitchFamily="34" charset="-122"/>
              <a:ea typeface="微软雅黑" panose="020B0503020204020204" pitchFamily="34" charset="-122"/>
              <a:sym typeface="+mn-ea"/>
            </a:endParaRPr>
          </a:p>
          <a:p>
            <a:pPr algn="l">
              <a:spcBef>
                <a:spcPts val="0"/>
              </a:spcBef>
              <a:spcAft>
                <a:spcPts val="1000"/>
              </a:spcAft>
            </a:pP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结尾落版</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Ending</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的部分展示产品</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icon</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，和下载渠道，背景虚化</a:t>
            </a:r>
            <a:r>
              <a:rPr lang="en-US" altLang="zh-CN" sz="1200" kern="1000" spc="0" noProof="1">
                <a:solidFill>
                  <a:schemeClr val="tx1"/>
                </a:solidFill>
                <a:latin typeface="微软雅黑" panose="020B0503020204020204" pitchFamily="34" charset="-122"/>
                <a:ea typeface="微软雅黑" panose="020B0503020204020204" pitchFamily="34" charset="-122"/>
                <a:sym typeface="+mn-ea"/>
              </a:rPr>
              <a:t>-</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各种书籍封面缓慢</a:t>
            </a:r>
            <a:r>
              <a:rPr lang="zh-CN" altLang="en-US" sz="1200" kern="1000" spc="0" noProof="1">
                <a:solidFill>
                  <a:schemeClr val="tx1"/>
                </a:solidFill>
                <a:latin typeface="微软雅黑" panose="020B0503020204020204" pitchFamily="34" charset="-122"/>
                <a:ea typeface="微软雅黑" panose="020B0503020204020204" pitchFamily="34" charset="-122"/>
                <a:sym typeface="+mn-ea"/>
              </a:rPr>
              <a:t>移动。</a:t>
            </a:r>
            <a:endParaRPr lang="en-US" altLang="zh-CN" sz="1200" kern="1000" spc="0" noProof="1">
              <a:solidFill>
                <a:schemeClr val="tx1"/>
              </a:solidFill>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hasCustomPrompt="1"/>
            <p:custDataLst>
              <p:tags r:id="rId1"/>
            </p:custDataLst>
          </p:nvPr>
        </p:nvSpPr>
        <p:spPr>
          <a:xfrm>
            <a:off x="138113" y="100013"/>
            <a:ext cx="11915775" cy="7615237"/>
          </a:xfrm>
        </p:spPr>
        <p:txBody>
          <a:bodyPr>
            <a:normAutofit/>
          </a:bodyPr>
          <a:lstStyle/>
          <a:p>
            <a:pPr algn="l">
              <a:spcBef>
                <a:spcPts val="0"/>
              </a:spcBef>
            </a:pPr>
            <a:endParaRPr lang="zh-CN" altLang="en-US" sz="1200" kern="1000" spc="0" noProof="1">
              <a:solidFill>
                <a:schemeClr val="tx1"/>
              </a:solidFill>
              <a:sym typeface="+mn-ea"/>
            </a:endParaRPr>
          </a:p>
          <a:p>
            <a:pPr algn="l">
              <a:spcBef>
                <a:spcPts val="0"/>
              </a:spcBef>
              <a:spcAft>
                <a:spcPts val="1000"/>
              </a:spcAft>
            </a:pPr>
            <a:r>
              <a:rPr lang="zh-CN" altLang="en-US" sz="1200" b="1" kern="1000" spc="0" noProof="1">
                <a:solidFill>
                  <a:schemeClr val="tx1"/>
                </a:solidFill>
                <a:latin typeface="微软雅黑" panose="020B0503020204020204" pitchFamily="34" charset="-122"/>
                <a:ea typeface="微软雅黑" panose="020B0503020204020204" pitchFamily="34" charset="-122"/>
                <a:cs typeface="Arial" panose="020B0604020202020204" pitchFamily="34" charset="0"/>
                <a:sym typeface="+mn-ea"/>
              </a:rPr>
              <a:t>所有视频还要特别注意一下视频节奏，文字部分以让人能看清的时间为准，画面部分节奏尽量紧凑不拖沓（不用非死死的按需求中写的秒数进行，可根据画面适当调整）  </a:t>
            </a:r>
            <a:endParaRPr lang="zh-CN" altLang="en-US" sz="1200" b="1" kern="1000" spc="0" noProof="1">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注：</a:t>
            </a:r>
            <a:r>
              <a:rPr lang="zh-CN" altLang="en-US" sz="1200" kern="1000" spc="0" noProof="1">
                <a:solidFill>
                  <a:srgbClr val="FF0000"/>
                </a:solidFill>
                <a:latin typeface="+mn-ea"/>
                <a:cs typeface="Arial" panose="020B0604020202020204" pitchFamily="34" charset="0"/>
                <a:sym typeface="+mn-ea"/>
              </a:rPr>
              <a:t>鼓励制作者在了解整体视频大意和思路后在一些脚本没提到的细节之处自由发挥。</a:t>
            </a:r>
            <a:endParaRPr lang="en-US" altLang="zh-CN" sz="1200" kern="1000" spc="0" noProof="1">
              <a:solidFill>
                <a:srgbClr val="FF0000"/>
              </a:solidFill>
              <a:latin typeface="+mn-ea"/>
              <a:cs typeface="Arial" panose="020B0604020202020204" pitchFamily="34" charset="0"/>
              <a:sym typeface="+mn-ea"/>
            </a:endParaRPr>
          </a:p>
          <a:p>
            <a:pPr algn="l">
              <a:spcBef>
                <a:spcPts val="0"/>
              </a:spcBef>
              <a:spcAft>
                <a:spcPts val="1000"/>
              </a:spcAft>
            </a:pPr>
            <a:r>
              <a:rPr lang="en-US" altLang="zh-CN" sz="1200" kern="1000" noProof="1">
                <a:solidFill>
                  <a:srgbClr val="FF0000"/>
                </a:solidFill>
                <a:latin typeface="+mn-ea"/>
                <a:cs typeface="Arial" panose="020B0604020202020204" pitchFamily="34" charset="0"/>
                <a:sym typeface="+mn-ea"/>
              </a:rPr>
              <a:t>       </a:t>
            </a:r>
            <a:r>
              <a:rPr lang="zh-CN" altLang="en-US" sz="1200" kern="1000" noProof="1">
                <a:solidFill>
                  <a:srgbClr val="FF0000"/>
                </a:solidFill>
                <a:latin typeface="+mn-ea"/>
                <a:cs typeface="Arial" panose="020B0604020202020204" pitchFamily="34" charset="0"/>
                <a:sym typeface="+mn-ea"/>
              </a:rPr>
              <a:t>内部人物服装与身体 不要做合并图层处理，保留（</a:t>
            </a:r>
            <a:r>
              <a:rPr lang="en-US" altLang="zh-CN" sz="1200" kern="1000" noProof="1">
                <a:solidFill>
                  <a:srgbClr val="FF0000"/>
                </a:solidFill>
                <a:latin typeface="+mn-ea"/>
                <a:cs typeface="Arial" panose="020B0604020202020204" pitchFamily="34" charset="0"/>
                <a:sym typeface="+mn-ea"/>
              </a:rPr>
              <a:t>ps</a:t>
            </a:r>
            <a:r>
              <a:rPr lang="zh-CN" altLang="en-US" sz="1200" kern="1000" noProof="1">
                <a:solidFill>
                  <a:srgbClr val="FF0000"/>
                </a:solidFill>
                <a:latin typeface="+mn-ea"/>
                <a:cs typeface="Arial" panose="020B0604020202020204" pitchFamily="34" charset="0"/>
                <a:sym typeface="+mn-ea"/>
              </a:rPr>
              <a:t>内）文件夹或者（</a:t>
            </a:r>
            <a:r>
              <a:rPr lang="en-US" altLang="zh-CN" sz="1200" kern="1000" noProof="1">
                <a:solidFill>
                  <a:srgbClr val="FF0000"/>
                </a:solidFill>
                <a:latin typeface="+mn-ea"/>
                <a:cs typeface="Arial" panose="020B0604020202020204" pitchFamily="34" charset="0"/>
                <a:sym typeface="+mn-ea"/>
              </a:rPr>
              <a:t>ae</a:t>
            </a:r>
            <a:r>
              <a:rPr lang="zh-CN" altLang="en-US" sz="1200" kern="1000" noProof="1">
                <a:solidFill>
                  <a:srgbClr val="FF0000"/>
                </a:solidFill>
                <a:latin typeface="+mn-ea"/>
                <a:cs typeface="Arial" panose="020B0604020202020204" pitchFamily="34" charset="0"/>
                <a:sym typeface="+mn-ea"/>
              </a:rPr>
              <a:t>内）合成，方便后续做换装修改。</a:t>
            </a:r>
            <a:endParaRPr lang="en-US" altLang="zh-CN" sz="1200" kern="1000" noProof="1">
              <a:solidFill>
                <a:srgbClr val="FF0000"/>
              </a:solidFill>
              <a:latin typeface="+mn-ea"/>
              <a:cs typeface="Arial" panose="020B0604020202020204" pitchFamily="34" charset="0"/>
              <a:sym typeface="+mn-ea"/>
            </a:endParaRPr>
          </a:p>
          <a:p>
            <a:pPr algn="l">
              <a:spcBef>
                <a:spcPts val="0"/>
              </a:spcBef>
              <a:spcAft>
                <a:spcPts val="1000"/>
              </a:spcAft>
            </a:pPr>
            <a:r>
              <a:rPr lang="en-US" altLang="zh-CN" sz="1200" kern="1000" spc="0" noProof="1">
                <a:solidFill>
                  <a:schemeClr val="tx1"/>
                </a:solidFill>
                <a:latin typeface="+mn-ea"/>
                <a:cs typeface="Arial" panose="020B0604020202020204" pitchFamily="34" charset="0"/>
                <a:sym typeface="+mn-ea"/>
              </a:rPr>
              <a:t>      </a:t>
            </a:r>
            <a:r>
              <a:rPr lang="zh-CN" altLang="en-US" sz="1200" kern="1000" spc="0" noProof="1">
                <a:solidFill>
                  <a:schemeClr val="tx1"/>
                </a:solidFill>
                <a:latin typeface="+mn-ea"/>
                <a:cs typeface="Arial" panose="020B0604020202020204" pitchFamily="34" charset="0"/>
                <a:sym typeface="+mn-ea"/>
              </a:rPr>
              <a:t>如果人物表情变化图层时，请注意不要有重叠层，人物表情也不一定只能是一样，可以根据故事画面进行切换</a:t>
            </a:r>
            <a:endParaRPr lang="zh-CN" altLang="en-US" sz="1200" kern="1000" spc="0" noProof="1">
              <a:solidFill>
                <a:schemeClr val="tx1"/>
              </a:solidFill>
              <a:latin typeface="+mn-ea"/>
              <a:cs typeface="Arial" panose="020B0604020202020204" pitchFamily="34" charset="0"/>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      注意字体的统一，大小、居中等问题</a:t>
            </a:r>
            <a:endParaRPr lang="zh-CN" altLang="en-US" sz="1200" kern="1000" spc="0" noProof="1">
              <a:solidFill>
                <a:schemeClr val="tx1"/>
              </a:solidFill>
              <a:latin typeface="+mn-ea"/>
              <a:cs typeface="Arial" panose="020B0604020202020204" pitchFamily="34" charset="0"/>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      动作尽可能生动流畅一些，注意镜头的切换，可以多运用一些转场形式</a:t>
            </a:r>
            <a:endParaRPr lang="zh-CN" altLang="en-US" sz="1200" kern="1000" spc="0" noProof="1">
              <a:solidFill>
                <a:schemeClr val="tx1"/>
              </a:solidFill>
              <a:latin typeface="+mn-ea"/>
              <a:cs typeface="Arial" panose="020B0604020202020204" pitchFamily="34" charset="0"/>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      注意人物与场景的构图比例，突出重点表达，如不重要的可适当虚化 </a:t>
            </a:r>
            <a:endParaRPr lang="zh-CN" altLang="en-US" sz="1200" kern="1000" spc="0" noProof="1">
              <a:solidFill>
                <a:schemeClr val="tx1"/>
              </a:solidFill>
              <a:latin typeface="+mn-ea"/>
              <a:cs typeface="Arial" panose="020B0604020202020204" pitchFamily="34" charset="0"/>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      注意理解故事，增添氛围。避免呆板！</a:t>
            </a:r>
            <a:endParaRPr lang="zh-CN" altLang="en-US" sz="1200" kern="1000" spc="0" noProof="1">
              <a:solidFill>
                <a:schemeClr val="tx1"/>
              </a:solidFill>
              <a:latin typeface="+mn-ea"/>
              <a:cs typeface="Arial" panose="020B0604020202020204" pitchFamily="34" charset="0"/>
              <a:sym typeface="+mn-ea"/>
            </a:endParaRPr>
          </a:p>
          <a:p>
            <a:pPr algn="l">
              <a:spcBef>
                <a:spcPts val="0"/>
              </a:spcBef>
              <a:spcAft>
                <a:spcPts val="1000"/>
              </a:spcAft>
            </a:pPr>
            <a:r>
              <a:rPr lang="zh-CN" altLang="en-US" sz="1200" kern="1000" spc="0" noProof="1">
                <a:solidFill>
                  <a:schemeClr val="tx1"/>
                </a:solidFill>
                <a:latin typeface="+mn-ea"/>
                <a:cs typeface="Arial" panose="020B0604020202020204" pitchFamily="34" charset="0"/>
                <a:sym typeface="+mn-ea"/>
              </a:rPr>
              <a:t>      注意配乐要与剧情相搭，如紧张的剧情配乐也要有紧张感，不要用成舒缓的音乐</a:t>
            </a:r>
            <a:endParaRPr lang="zh-CN" altLang="en-US" sz="1200" kern="1000" spc="0" noProof="1">
              <a:solidFill>
                <a:schemeClr val="tx1"/>
              </a:solidFill>
              <a:latin typeface="+mn-ea"/>
              <a:cs typeface="Arial" panose="020B0604020202020204" pitchFamily="34" charset="0"/>
              <a:sym typeface="+mn-ea"/>
            </a:endParaRPr>
          </a:p>
          <a:p>
            <a:pPr algn="l">
              <a:spcBef>
                <a:spcPts val="0"/>
              </a:spcBef>
            </a:pPr>
            <a:endParaRPr lang="zh-CN" altLang="en-US" sz="1200" kern="1000" spc="0" noProof="1">
              <a:solidFill>
                <a:schemeClr val="tx1"/>
              </a:solidFill>
              <a:sym typeface="+mn-ea"/>
            </a:endParaRPr>
          </a:p>
        </p:txBody>
      </p:sp>
    </p:spTree>
    <p:custDataLst>
      <p:tags r:id="rId2"/>
    </p:custDataLst>
  </p:cSld>
  <p:clrMapOvr>
    <a:masterClrMapping/>
  </p:clrMapOvr>
</p:sld>
</file>

<file path=ppt/tags/tag1.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1403</Words>
  <Application>WPS 演示</Application>
  <PresentationFormat>宽屏</PresentationFormat>
  <Paragraphs>37</Paragraphs>
  <Slides>2</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微软雅黑</vt:lpstr>
      <vt:lpstr>Arial Unicode MS</vt:lpstr>
      <vt:lpstr>等线 Light</vt:lpstr>
      <vt:lpstr>等线</vt: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 jay</dc:creator>
  <cp:lastModifiedBy>TBQ</cp:lastModifiedBy>
  <cp:revision>41</cp:revision>
  <dcterms:created xsi:type="dcterms:W3CDTF">2022-07-26T07:54:00Z</dcterms:created>
  <dcterms:modified xsi:type="dcterms:W3CDTF">2025-10-28T10:10:50Z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D9EBF82C8F4F4A5AB28D220D17624E89_12</vt:lpwstr>
  </property>
  <property fmtid="{D5CDD505-2E9C-101B-9397-08002B2CF9AE}" pid="3" name="KSOProductBuildVer">
    <vt:lpwstr>2052-12.1.0.23125</vt:lpwstr>
  </property>
</Properties>
</file>